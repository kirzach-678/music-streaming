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embeddedFontLst>
    <p:embeddedFont>
      <p:font typeface="Inter SemiBold"/>
      <p:regular r:id="rId21"/>
      <p:italic r:id="rId22"/>
      <p:boldItalic r:id="rId23"/>
    </p:embeddedFont>
    <p:embeddedFont>
      <p:font typeface="Urbanist Medium"/>
      <p:bold r:id="rId24"/>
      <p:italic r:id="rId25"/>
      <p:boldItalic r:id="rId26"/>
    </p:embeddedFont>
    <p:embeddedFont>
      <p:font typeface="Urbanist"/>
      <p:bold r:id="rId24"/>
      <p:italic r:id="rId25"/>
      <p:boldItalic r:id="rId26"/>
    </p:embeddedFont>
    <p:embeddedFont>
      <p:font typeface="Noto Sans"/>
      <p:regular r:id="rId27"/>
      <p:bold r:id="rId28"/>
      <p:italic r:id="rId29"/>
      <p:boldItalic r:id="rId30"/>
    </p:embeddedFont>
    <p:embeddedFont>
      <p:font typeface="Inter"/>
      <p:regular r:id="rId21"/>
      <p:italic r:id="rId22"/>
      <p:boldItalic r:id="rId23"/>
    </p:embeddedFont>
    <p:embeddedFont>
      <p:font typeface="Noto Sans Devanagari"/>
      <p:regular r:id="rId31"/>
      <p:bold r:id="rId32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font" Target="fonts/Font_1_Inter_SemiBold_Regular.fntdata"/><Relationship Id="rId22" Type="http://schemas.openxmlformats.org/officeDocument/2006/relationships/font" Target="fonts/Font_2_Inter_SemiBold_Italic.fntdata"/><Relationship Id="rId23" Type="http://schemas.openxmlformats.org/officeDocument/2006/relationships/font" Target="fonts/Font_3_Inter_SemiBold_BoldItalic.fntdata"/><Relationship Id="rId24" Type="http://schemas.openxmlformats.org/officeDocument/2006/relationships/font" Target="fonts/Font_4_Urbanist_Medium_Bold.fntdata"/><Relationship Id="rId25" Type="http://schemas.openxmlformats.org/officeDocument/2006/relationships/font" Target="fonts/Font_5_Urbanist_Medium_Italic.fntdata"/><Relationship Id="rId26" Type="http://schemas.openxmlformats.org/officeDocument/2006/relationships/font" Target="fonts/Font_6_Urbanist_Medium_BoldItalic.fntdata"/><Relationship Id="rId27" Type="http://schemas.openxmlformats.org/officeDocument/2006/relationships/font" Target="fonts/Font_7_Noto_Sans_Regular.fntdata"/><Relationship Id="rId28" Type="http://schemas.openxmlformats.org/officeDocument/2006/relationships/font" Target="fonts/Font_8_Noto_Sans_Bold.fntdata"/><Relationship Id="rId29" Type="http://schemas.openxmlformats.org/officeDocument/2006/relationships/font" Target="fonts/Font_9_Noto_Sans_Italic.fntdata"/><Relationship Id="rId30" Type="http://schemas.openxmlformats.org/officeDocument/2006/relationships/font" Target="fonts/Font_10_Noto_Sans_BoldItalic.fntdata"/><Relationship Id="rId31" Type="http://schemas.openxmlformats.org/officeDocument/2006/relationships/font" Target="fonts/Font_11_Noto_Sans_Devanagari_Regular.fntdata"/><Relationship Id="rId32" Type="http://schemas.openxmlformats.org/officeDocument/2006/relationships/font" Target="fonts/Font_12_Noto_Sans_Devanagari_Bold.fntdata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166FC9-1992-4617-BFA5-6F526516EA4D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 rot="5400000">
            <a:off x="2309400" y="-251640"/>
            <a:ext cx="4525560" cy="8229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7A984D-BC9B-463C-A110-66EACC89966A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 rot="5400000">
            <a:off x="4732560" y="2171520"/>
            <a:ext cx="585108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 rot="5400000">
            <a:off x="541800" y="190080"/>
            <a:ext cx="5851080" cy="60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2DD242-309D-4FB5-B992-ED12E4C8CA1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5070A4-33C9-4559-93D4-FAF61CB3EA63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BD9FE0-0CB2-45E3-B86F-4AB47522F954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buNone/>
            </a:pPr>
            <a:r>
              <a:rPr lang="ru-RU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</a:t>
            </a:r>
            <a:r>
              <a:rPr lang="ru-RU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ru-RU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E8F7ED-A39E-4021-BA32-A2C2E77094FA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ED75FC-CEBA-496C-9068-8020C33CB860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0E9C36-F06B-4F16-B677-810374BC9972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35430A-15FE-40BD-A543-C14FC18EF416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0BA1A0-6565-4BDC-83D4-9B450AACA48A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8366B5-802E-4516-8EEB-CFB41972E2E7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4.png"/><Relationship Id="rId3" Type="http://schemas.openxmlformats.org/officeDocument/2006/relationships/image" Target="../media/image34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4;p1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" name="Google Shape;85;p13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Google Shape;86;p13"/>
          <p:cNvSpPr/>
          <p:nvPr/>
        </p:nvSpPr>
        <p:spPr>
          <a:xfrm>
            <a:off x="295200" y="1253880"/>
            <a:ext cx="11601000" cy="9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Проектирование БД</a:t>
            </a:r>
            <a:endParaRPr lang="ru-RU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87;p13"/>
          <p:cNvSpPr/>
          <p:nvPr/>
        </p:nvSpPr>
        <p:spPr>
          <a:xfrm>
            <a:off x="571680" y="3048120"/>
            <a:ext cx="11048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38bdf8"/>
                </a:solidFill>
                <a:effectLst/>
                <a:uFillTx/>
                <a:latin typeface="Inter"/>
                <a:ea typeface="Inter"/>
              </a:rPr>
              <a:t>База данных музыкального стримингого сервиса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88;p13"/>
          <p:cNvSpPr/>
          <p:nvPr/>
        </p:nvSpPr>
        <p:spPr>
          <a:xfrm>
            <a:off x="571680" y="4095720"/>
            <a:ext cx="11048760" cy="12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65000"/>
              </a:lnSpc>
              <a:tabLst>
                <a:tab algn="l" pos="0"/>
              </a:tabLst>
            </a:pPr>
            <a:r>
              <a:rPr lang="en-US" sz="165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Выполнили: </a:t>
            </a:r>
            <a:r>
              <a:rPr lang="en-US" sz="1650" b="1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Воскресенский К.А., Евтишенков Е.Р.</a:t>
            </a:r>
            <a:br>
              <a:rPr sz="1800"/>
            </a:br>
            <a:r>
              <a:rPr lang="en-US" sz="165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 Группа: </a:t>
            </a:r>
            <a:r>
              <a:rPr lang="en-US" sz="1650" b="1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2ИСИП-824</a:t>
            </a:r>
            <a:br>
              <a:rPr sz="1800"/>
            </a:br>
            <a:r>
              <a:rPr lang="en-US" sz="165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 Преподаватель: </a:t>
            </a:r>
            <a:r>
              <a:rPr lang="en-US" sz="1650" b="1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Гордеев И.Д.</a:t>
            </a:r>
            <a:endParaRPr lang="ru-RU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93;p1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Google Shape;94;p14"/>
          <p:cNvSpPr/>
          <p:nvPr/>
        </p:nvSpPr>
        <p:spPr>
          <a:xfrm>
            <a:off x="1000080" y="2781360"/>
            <a:ext cx="106200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Цель: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Разработка надежной реляционной модели данных для управления контентом и подписками музыкального сервиса.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95;p14"/>
          <p:cNvSpPr/>
          <p:nvPr/>
        </p:nvSpPr>
        <p:spPr>
          <a:xfrm>
            <a:off x="1000080" y="3591000"/>
            <a:ext cx="10620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Задача 1: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Реализация сложной структуры релизов (синглы, альбомы) с поддержкой дублирования песен.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96;p14"/>
          <p:cNvSpPr/>
          <p:nvPr/>
        </p:nvSpPr>
        <p:spPr>
          <a:xfrm>
            <a:off x="1000080" y="4114800"/>
            <a:ext cx="10620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Задача 2: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Организация системы платного доступа и автоматизации продления подписки через триггеры.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97;p14"/>
          <p:cNvSpPr/>
          <p:nvPr/>
        </p:nvSpPr>
        <p:spPr>
          <a:xfrm>
            <a:off x="1000080" y="4638600"/>
            <a:ext cx="10620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Задача 3: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Настройка связей "многие-ко-многим" для жанров, артистов и участников коллективов.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Google Shape;98;p14" descr="image.png"/>
          <p:cNvPicPr/>
          <p:nvPr/>
        </p:nvPicPr>
        <p:blipFill>
          <a:blip r:embed="rId2"/>
          <a:stretch/>
        </p:blipFill>
        <p:spPr>
          <a:xfrm>
            <a:off x="571680" y="282420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Google Shape;99;p14" descr="image.png"/>
          <p:cNvPicPr/>
          <p:nvPr/>
        </p:nvPicPr>
        <p:blipFill>
          <a:blip r:embed="rId3"/>
          <a:stretch/>
        </p:blipFill>
        <p:spPr>
          <a:xfrm>
            <a:off x="571680" y="3633840"/>
            <a:ext cx="2376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Google Shape;100;p14" descr="image.png"/>
          <p:cNvPicPr/>
          <p:nvPr/>
        </p:nvPicPr>
        <p:blipFill>
          <a:blip r:embed="rId4"/>
          <a:stretch/>
        </p:blipFill>
        <p:spPr>
          <a:xfrm>
            <a:off x="571680" y="4157640"/>
            <a:ext cx="2376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Google Shape;101;p14" descr="image.png"/>
          <p:cNvPicPr/>
          <p:nvPr/>
        </p:nvPicPr>
        <p:blipFill>
          <a:blip r:embed="rId5"/>
          <a:stretch/>
        </p:blipFill>
        <p:spPr>
          <a:xfrm>
            <a:off x="571680" y="4681440"/>
            <a:ext cx="237600" cy="27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Google Shape;102;p14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Цель и задачи проекта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03;p14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108;p1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Google Shape;109;p15" descr="image.png"/>
          <p:cNvPicPr/>
          <p:nvPr/>
        </p:nvPicPr>
        <p:blipFill>
          <a:blip r:embed="rId2"/>
          <a:stretch/>
        </p:blipFill>
        <p:spPr>
          <a:xfrm>
            <a:off x="571680" y="2257560"/>
            <a:ext cx="3492360" cy="327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Google Shape;110;p15" descr="image.png"/>
          <p:cNvPicPr/>
          <p:nvPr/>
        </p:nvPicPr>
        <p:blipFill>
          <a:blip r:embed="rId3"/>
          <a:stretch/>
        </p:blipFill>
        <p:spPr>
          <a:xfrm>
            <a:off x="4349880" y="2257560"/>
            <a:ext cx="3492360" cy="327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Google Shape;111;p15" descr="image.png"/>
          <p:cNvPicPr/>
          <p:nvPr/>
        </p:nvPicPr>
        <p:blipFill>
          <a:blip r:embed="rId4"/>
          <a:stretch/>
        </p:blipFill>
        <p:spPr>
          <a:xfrm>
            <a:off x="8128080" y="2257560"/>
            <a:ext cx="3492360" cy="327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Google Shape;112;p15"/>
          <p:cNvSpPr/>
          <p:nvPr/>
        </p:nvSpPr>
        <p:spPr>
          <a:xfrm>
            <a:off x="914400" y="330516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Контент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13;p15"/>
          <p:cNvSpPr/>
          <p:nvPr/>
        </p:nvSpPr>
        <p:spPr>
          <a:xfrm>
            <a:off x="914400" y="3857760"/>
            <a:ext cx="28065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Управление песнями, жанрами и релизами. Поддержка версионности (ремиксы, переиздания).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14;p15"/>
          <p:cNvSpPr/>
          <p:nvPr/>
        </p:nvSpPr>
        <p:spPr>
          <a:xfrm>
            <a:off x="4692600" y="330516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Роли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15;p15"/>
          <p:cNvSpPr/>
          <p:nvPr/>
        </p:nvSpPr>
        <p:spPr>
          <a:xfrm>
            <a:off x="4692600" y="3857760"/>
            <a:ext cx="28065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Артисты, лейблы и сотрудники. Пользователи могут подавать заявки на роль правообладателей.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16;p15"/>
          <p:cNvSpPr/>
          <p:nvPr/>
        </p:nvSpPr>
        <p:spPr>
          <a:xfrm>
            <a:off x="8471160" y="330516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Бизнес-модель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17;p15"/>
          <p:cNvSpPr/>
          <p:nvPr/>
        </p:nvSpPr>
        <p:spPr>
          <a:xfrm>
            <a:off x="8471160" y="3857760"/>
            <a:ext cx="28065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Доступ к прослушиванию только при активной платной подписке. Хранение истории транзакций.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Google Shape;118;p15" descr="image.png"/>
          <p:cNvPicPr/>
          <p:nvPr/>
        </p:nvPicPr>
        <p:blipFill>
          <a:blip r:embed="rId5"/>
          <a:stretch/>
        </p:blipFill>
        <p:spPr>
          <a:xfrm>
            <a:off x="914400" y="2647800"/>
            <a:ext cx="41868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Google Shape;119;p15" descr="image.png"/>
          <p:cNvPicPr/>
          <p:nvPr/>
        </p:nvPicPr>
        <p:blipFill>
          <a:blip r:embed="rId6"/>
          <a:stretch/>
        </p:blipFill>
        <p:spPr>
          <a:xfrm>
            <a:off x="4692600" y="2647800"/>
            <a:ext cx="5234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Google Shape;120;p15" descr="image.png"/>
          <p:cNvPicPr/>
          <p:nvPr/>
        </p:nvPicPr>
        <p:blipFill>
          <a:blip r:embed="rId7"/>
          <a:stretch/>
        </p:blipFill>
        <p:spPr>
          <a:xfrm>
            <a:off x="8471160" y="2647800"/>
            <a:ext cx="47592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Google Shape;121;p15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Предметная область и процессы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22;p15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127;p16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Google Shape;128;p16" descr="image.png"/>
          <p:cNvPicPr/>
          <p:nvPr/>
        </p:nvPicPr>
        <p:blipFill>
          <a:blip r:embed="rId2"/>
          <a:stretch/>
        </p:blipFill>
        <p:spPr>
          <a:xfrm>
            <a:off x="335880" y="1800000"/>
            <a:ext cx="11520000" cy="45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Google Shape;130;p16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Описание основных сущностей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1;p16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"/>
          <p:cNvPicPr/>
          <p:nvPr/>
        </p:nvPicPr>
        <p:blipFill>
          <a:blip r:embed="rId3"/>
          <a:stretch/>
        </p:blipFill>
        <p:spPr>
          <a:xfrm>
            <a:off x="522000" y="2016000"/>
            <a:ext cx="11147760" cy="413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159;p18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" name="Google Shape;160;p18" descr="image.png"/>
          <p:cNvPicPr/>
          <p:nvPr/>
        </p:nvPicPr>
        <p:blipFill>
          <a:blip r:embed="rId2"/>
          <a:stretch/>
        </p:blipFill>
        <p:spPr>
          <a:xfrm>
            <a:off x="571680" y="2085840"/>
            <a:ext cx="5285880" cy="285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Google Shape;161;p18" descr="image.png"/>
          <p:cNvPicPr/>
          <p:nvPr/>
        </p:nvPicPr>
        <p:blipFill>
          <a:blip r:embed="rId3"/>
          <a:stretch/>
        </p:blipFill>
        <p:spPr>
          <a:xfrm>
            <a:off x="6334200" y="2085840"/>
            <a:ext cx="528588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Google Shape;162;p18"/>
          <p:cNvSpPr/>
          <p:nvPr/>
        </p:nvSpPr>
        <p:spPr>
          <a:xfrm>
            <a:off x="571680" y="5229360"/>
            <a:ext cx="110487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lang="en-US" sz="1500" b="0" i="1" u="none" strike="noStrike">
                <a:solidFill>
                  <a:srgbClr val="38bdf8"/>
                </a:solidFill>
                <a:effectLst/>
                <a:uFillTx/>
                <a:latin typeface="Inter"/>
                <a:ea typeface="Inter"/>
              </a:rPr>
              <a:t>БД приведена к 3NF, что минимизирует избыточность и аномалии обновления.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63;p18"/>
          <p:cNvSpPr/>
          <p:nvPr/>
        </p:nvSpPr>
        <p:spPr>
          <a:xfrm>
            <a:off x="914400" y="2428920"/>
            <a:ext cx="48301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1NF → 2NF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64;p18"/>
          <p:cNvSpPr/>
          <p:nvPr/>
        </p:nvSpPr>
        <p:spPr>
          <a:xfrm>
            <a:off x="914400" y="2981160"/>
            <a:ext cx="460008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Устранение частичных зависимостей. Атрибуты неключевых сущностей зависят от полного первичного ключа. Выделение связующих таблиц для "многие-ко-многим" (Song-Release, Song-Genre).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65;p18"/>
          <p:cNvSpPr/>
          <p:nvPr/>
        </p:nvSpPr>
        <p:spPr>
          <a:xfrm>
            <a:off x="6676920" y="2428920"/>
            <a:ext cx="48301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2NF → 3NF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66;p18"/>
          <p:cNvSpPr/>
          <p:nvPr/>
        </p:nvSpPr>
        <p:spPr>
          <a:xfrm>
            <a:off x="6676920" y="2981160"/>
            <a:ext cx="460008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Удаление транзитивных зависимостей. Например, информация о лейбле вынесена в отдельную таблицу labels, чтобы в таблице releases хранился только внешний ключ.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67;p18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Нормализация базы данных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68;p18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73;p19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Google Shape;174;p19"/>
          <p:cNvSpPr/>
          <p:nvPr/>
        </p:nvSpPr>
        <p:spPr>
          <a:xfrm>
            <a:off x="762120" y="571680"/>
            <a:ext cx="50004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Схема в DBeaver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75;p19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77;p19"/>
          <p:cNvSpPr/>
          <p:nvPr/>
        </p:nvSpPr>
        <p:spPr>
          <a:xfrm>
            <a:off x="6840000" y="720000"/>
            <a:ext cx="520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Физическая модель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"/>
          <p:cNvPicPr/>
          <p:nvPr/>
        </p:nvPicPr>
        <p:blipFill>
          <a:blip r:embed="rId2"/>
          <a:stretch/>
        </p:blipFill>
        <p:spPr>
          <a:xfrm>
            <a:off x="0" y="1668600"/>
            <a:ext cx="12191760" cy="5189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73;p 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Google Shape;174;p 2"/>
          <p:cNvSpPr/>
          <p:nvPr/>
        </p:nvSpPr>
        <p:spPr>
          <a:xfrm>
            <a:off x="762120" y="571680"/>
            <a:ext cx="5000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Схема в DBeaver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75;p 2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77;p 2"/>
          <p:cNvSpPr/>
          <p:nvPr/>
        </p:nvSpPr>
        <p:spPr>
          <a:xfrm>
            <a:off x="6840000" y="720000"/>
            <a:ext cx="520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Физическая модель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" name=""/>
          <p:cNvPicPr/>
          <p:nvPr/>
        </p:nvPicPr>
        <p:blipFill>
          <a:blip r:embed="rId2"/>
          <a:stretch/>
        </p:blipFill>
        <p:spPr>
          <a:xfrm>
            <a:off x="0" y="1658520"/>
            <a:ext cx="12191760" cy="519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73;p 2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Google Shape;174;p 3"/>
          <p:cNvSpPr/>
          <p:nvPr/>
        </p:nvSpPr>
        <p:spPr>
          <a:xfrm>
            <a:off x="762120" y="571680"/>
            <a:ext cx="5000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Схема в DBeaver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75;p 3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77;p 3"/>
          <p:cNvSpPr/>
          <p:nvPr/>
        </p:nvSpPr>
        <p:spPr>
          <a:xfrm>
            <a:off x="6840000" y="720000"/>
            <a:ext cx="520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Физическая модель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" name=""/>
          <p:cNvPicPr/>
          <p:nvPr/>
        </p:nvPicPr>
        <p:blipFill>
          <a:blip r:embed="rId2"/>
          <a:stretch/>
        </p:blipFill>
        <p:spPr>
          <a:xfrm>
            <a:off x="966240" y="1382040"/>
            <a:ext cx="10259640" cy="5475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73;p 3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Google Shape;202;p20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наполнения таблиц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03;p20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77;p 1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users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"/>
          <p:cNvPicPr/>
          <p:nvPr/>
        </p:nvPicPr>
        <p:blipFill>
          <a:blip r:embed="rId2"/>
          <a:stretch/>
        </p:blipFill>
        <p:spPr>
          <a:xfrm>
            <a:off x="0" y="1919160"/>
            <a:ext cx="12191760" cy="4938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73;p 4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Google Shape;202;p 2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наполнения таблиц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03;p 2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77;p 4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songs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2"/>
          <a:stretch/>
        </p:blipFill>
        <p:spPr>
          <a:xfrm>
            <a:off x="0" y="1895760"/>
            <a:ext cx="12191760" cy="494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73;p 5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Google Shape;202;p 3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наполнения таблиц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03;p 3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77;p 5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payments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2"/>
          <a:stretch/>
        </p:blipFill>
        <p:spPr>
          <a:xfrm>
            <a:off x="0" y="1895760"/>
            <a:ext cx="12191760" cy="494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73;p 6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Google Shape;202;p 4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запросов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03;p 4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77;p 6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топ песен по удержанию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1" name=""/>
          <p:cNvPicPr/>
          <p:nvPr/>
        </p:nvPicPr>
        <p:blipFill>
          <a:blip r:embed="rId2"/>
          <a:stretch/>
        </p:blipFill>
        <p:spPr>
          <a:xfrm>
            <a:off x="408240" y="1800000"/>
            <a:ext cx="8411760" cy="189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"/>
          <p:cNvPicPr/>
          <p:nvPr/>
        </p:nvPicPr>
        <p:blipFill>
          <a:blip r:embed="rId3"/>
          <a:stretch/>
        </p:blipFill>
        <p:spPr>
          <a:xfrm>
            <a:off x="6660000" y="4770000"/>
            <a:ext cx="5220000" cy="171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73;p 7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Google Shape;202;p 5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запросов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203;p 5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77;p 7"/>
          <p:cNvSpPr/>
          <p:nvPr/>
        </p:nvSpPr>
        <p:spPr>
          <a:xfrm>
            <a:off x="5940000" y="612360"/>
            <a:ext cx="6100560" cy="9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бан пользователей, у которых не прошла оплата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" name=""/>
          <p:cNvPicPr/>
          <p:nvPr/>
        </p:nvPicPr>
        <p:blipFill>
          <a:blip r:embed="rId2"/>
          <a:stretch/>
        </p:blipFill>
        <p:spPr>
          <a:xfrm>
            <a:off x="360000" y="1638000"/>
            <a:ext cx="7633080" cy="4194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"/>
          <p:cNvPicPr/>
          <p:nvPr/>
        </p:nvPicPr>
        <p:blipFill>
          <a:blip r:embed="rId3"/>
          <a:stretch/>
        </p:blipFill>
        <p:spPr>
          <a:xfrm>
            <a:off x="7380000" y="3998880"/>
            <a:ext cx="4320000" cy="258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73;p 8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202;p 6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запросов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 6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77;p 8"/>
          <p:cNvSpPr/>
          <p:nvPr/>
        </p:nvSpPr>
        <p:spPr>
          <a:xfrm>
            <a:off x="6300000" y="612360"/>
            <a:ext cx="574056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проверка пароля при входе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2"/>
          <a:stretch/>
        </p:blipFill>
        <p:spPr>
          <a:xfrm>
            <a:off x="360000" y="1620000"/>
            <a:ext cx="9542160" cy="217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"/>
          <p:cNvPicPr/>
          <p:nvPr/>
        </p:nvPicPr>
        <p:blipFill>
          <a:blip r:embed="rId3"/>
          <a:stretch/>
        </p:blipFill>
        <p:spPr>
          <a:xfrm>
            <a:off x="8156880" y="4140000"/>
            <a:ext cx="3723120" cy="248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73;p 9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Google Shape;202;p 7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запросов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203;p 7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177;p 9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топ песен по удержанию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"/>
          <p:cNvPicPr/>
          <p:nvPr/>
        </p:nvPicPr>
        <p:blipFill>
          <a:blip r:embed="rId2"/>
          <a:stretch/>
        </p:blipFill>
        <p:spPr>
          <a:xfrm>
            <a:off x="408240" y="1800000"/>
            <a:ext cx="8411760" cy="189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"/>
          <p:cNvPicPr/>
          <p:nvPr/>
        </p:nvPicPr>
        <p:blipFill>
          <a:blip r:embed="rId3"/>
          <a:stretch/>
        </p:blipFill>
        <p:spPr>
          <a:xfrm>
            <a:off x="6660000" y="4770000"/>
            <a:ext cx="5220000" cy="171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234;p2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2" name="Google Shape;235;p23" descr="image.png"/>
          <p:cNvPicPr/>
          <p:nvPr/>
        </p:nvPicPr>
        <p:blipFill>
          <a:blip r:embed="rId2"/>
          <a:stretch/>
        </p:blipFill>
        <p:spPr>
          <a:xfrm>
            <a:off x="571680" y="4876920"/>
            <a:ext cx="11048760" cy="190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Google Shape;236;p23"/>
          <p:cNvSpPr/>
          <p:nvPr/>
        </p:nvSpPr>
        <p:spPr>
          <a:xfrm>
            <a:off x="952560" y="1886040"/>
            <a:ext cx="4524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90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100%</a:t>
            </a:r>
            <a:endParaRPr lang="ru-RU" sz="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Google Shape;237;p23"/>
          <p:cNvSpPr/>
          <p:nvPr/>
        </p:nvSpPr>
        <p:spPr>
          <a:xfrm>
            <a:off x="952560" y="3029040"/>
            <a:ext cx="45241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100" b="0" u="none" strike="noStrike">
                <a:solidFill>
                  <a:srgbClr val="f8fafc"/>
                </a:solidFill>
                <a:effectLst/>
                <a:uFillTx/>
                <a:latin typeface="Inter SemiBold"/>
                <a:ea typeface="Inter SemiBold"/>
              </a:rPr>
              <a:t>КОНТРОЛЬ ДОСТУПА</a:t>
            </a:r>
            <a:endParaRPr lang="ru-RU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238;p23"/>
          <p:cNvSpPr/>
          <p:nvPr/>
        </p:nvSpPr>
        <p:spPr>
          <a:xfrm>
            <a:off x="952560" y="3543480"/>
            <a:ext cx="45241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БД гарантирует доступ к контенту только при наличии валидного платежа.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239;p23"/>
          <p:cNvSpPr/>
          <p:nvPr/>
        </p:nvSpPr>
        <p:spPr>
          <a:xfrm>
            <a:off x="6334200" y="1504800"/>
            <a:ext cx="55504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Возможности системы: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40;p23"/>
          <p:cNvSpPr/>
          <p:nvPr/>
        </p:nvSpPr>
        <p:spPr>
          <a:xfrm>
            <a:off x="6762600" y="2019240"/>
            <a:ext cx="485748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Прогнозирование: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Отслеживание "оттока" пользователей по истории подписок.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41;p23"/>
          <p:cNvSpPr/>
          <p:nvPr/>
        </p:nvSpPr>
        <p:spPr>
          <a:xfrm>
            <a:off x="6762600" y="2828880"/>
            <a:ext cx="485748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Рекомендации: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Анализ предпочтений на основе частоты прослушивания жанров.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242;p23"/>
          <p:cNvSpPr/>
          <p:nvPr/>
        </p:nvSpPr>
        <p:spPr>
          <a:xfrm>
            <a:off x="6762600" y="3638520"/>
            <a:ext cx="485748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Безопасность: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Хеширование паролей (pgcrypto) и защита персональных данных.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0" name="Google Shape;243;p23" descr="image.png"/>
          <p:cNvPicPr/>
          <p:nvPr/>
        </p:nvPicPr>
        <p:blipFill>
          <a:blip r:embed="rId3"/>
          <a:stretch/>
        </p:blipFill>
        <p:spPr>
          <a:xfrm>
            <a:off x="6334200" y="206208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oogle Shape;244;p23" descr="image.png"/>
          <p:cNvPicPr/>
          <p:nvPr/>
        </p:nvPicPr>
        <p:blipFill>
          <a:blip r:embed="rId4"/>
          <a:stretch/>
        </p:blipFill>
        <p:spPr>
          <a:xfrm>
            <a:off x="6334200" y="287172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oogle Shape;245;p23" descr="image.png"/>
          <p:cNvPicPr/>
          <p:nvPr/>
        </p:nvPicPr>
        <p:blipFill>
          <a:blip r:embed="rId5"/>
          <a:stretch/>
        </p:blipFill>
        <p:spPr>
          <a:xfrm>
            <a:off x="6334200" y="368136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Google Shape;246;p23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Аналитика и полезность БД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247;p23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252;p2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oogle Shape;253;p24" descr="image.png"/>
          <p:cNvPicPr/>
          <p:nvPr/>
        </p:nvPicPr>
        <p:blipFill>
          <a:blip r:embed="rId2"/>
          <a:stretch/>
        </p:blipFill>
        <p:spPr>
          <a:xfrm>
            <a:off x="571680" y="1852560"/>
            <a:ext cx="3492360" cy="40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Google Shape;254;p24" descr="image.png"/>
          <p:cNvPicPr/>
          <p:nvPr/>
        </p:nvPicPr>
        <p:blipFill>
          <a:blip r:embed="rId3"/>
          <a:stretch/>
        </p:blipFill>
        <p:spPr>
          <a:xfrm>
            <a:off x="4349880" y="1852560"/>
            <a:ext cx="3492360" cy="40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oogle Shape;255;p24" descr="image.png"/>
          <p:cNvPicPr/>
          <p:nvPr/>
        </p:nvPicPr>
        <p:blipFill>
          <a:blip r:embed="rId4"/>
          <a:stretch/>
        </p:blipFill>
        <p:spPr>
          <a:xfrm>
            <a:off x="8128080" y="1852560"/>
            <a:ext cx="3492360" cy="408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Google Shape;256;p24"/>
          <p:cNvSpPr/>
          <p:nvPr/>
        </p:nvSpPr>
        <p:spPr>
          <a:xfrm>
            <a:off x="914400" y="219564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Сложность связей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257;p24"/>
          <p:cNvSpPr/>
          <p:nvPr/>
        </p:nvSpPr>
        <p:spPr>
          <a:xfrm>
            <a:off x="914400" y="2747880"/>
            <a:ext cx="2806560" cy="19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Проблема: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Одна песня в разных релизах с разными номерами дорожек.</a:t>
            </a:r>
            <a:br>
              <a:rPr sz="1800"/>
            </a:b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Решение: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Создание song_releases с составным ключом и UNIQUE на пару (release_id, track_no).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258;p24"/>
          <p:cNvSpPr/>
          <p:nvPr/>
        </p:nvSpPr>
        <p:spPr>
          <a:xfrm>
            <a:off x="4692600" y="2195640"/>
            <a:ext cx="29466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Автоматизация дат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259;p24"/>
          <p:cNvSpPr/>
          <p:nvPr/>
        </p:nvSpPr>
        <p:spPr>
          <a:xfrm>
            <a:off x="4692600" y="3110040"/>
            <a:ext cx="2806560" cy="19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Проблема: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Сложность вычисления окончания подписки при нескольких платежах.</a:t>
            </a:r>
            <a:br>
              <a:rPr sz="1800"/>
            </a:b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Решение: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Написан PL/pgSQL триггер, который обновляет subscription_active_until.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260;p24"/>
          <p:cNvSpPr/>
          <p:nvPr/>
        </p:nvSpPr>
        <p:spPr>
          <a:xfrm>
            <a:off x="8471160" y="219564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Типы данных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261;p24"/>
          <p:cNvSpPr/>
          <p:nvPr/>
        </p:nvSpPr>
        <p:spPr>
          <a:xfrm>
            <a:off x="8471160" y="2747880"/>
            <a:ext cx="2806560" cy="14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Проблема: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Валидация путей файлов и email.</a:t>
            </a:r>
            <a:br>
              <a:rPr sz="1800"/>
            </a:b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Решение: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Использование CREATE DOMAIN с регулярным выражением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262;p24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Сложности и их решение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263;p24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268;p2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Google Shape;269;p25"/>
          <p:cNvSpPr/>
          <p:nvPr/>
        </p:nvSpPr>
        <p:spPr>
          <a:xfrm>
            <a:off x="295200" y="571680"/>
            <a:ext cx="1160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6000" b="1" u="none" strike="noStrik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Выводы</a:t>
            </a:r>
            <a:endParaRPr lang="ru-RU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270;p25"/>
          <p:cNvSpPr/>
          <p:nvPr/>
        </p:nvSpPr>
        <p:spPr>
          <a:xfrm>
            <a:off x="2286000" y="2071800"/>
            <a:ext cx="76197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В ходе проекта была спроектирована и реализована база данных для музыкального сервиса на PostgreSQL.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271;p25"/>
          <p:cNvSpPr/>
          <p:nvPr/>
        </p:nvSpPr>
        <p:spPr>
          <a:xfrm>
            <a:off x="2286000" y="5319720"/>
            <a:ext cx="76197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38bdf8"/>
                </a:solidFill>
                <a:effectLst/>
                <a:uFillTx/>
                <a:latin typeface="Inter"/>
                <a:ea typeface="Inter"/>
              </a:rPr>
              <a:t>Спасибо за внимание!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272;p25"/>
          <p:cNvSpPr/>
          <p:nvPr/>
        </p:nvSpPr>
        <p:spPr>
          <a:xfrm>
            <a:off x="2714760" y="3271680"/>
            <a:ext cx="7191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Модель данных соответствует всем бизнес-требованиям заказчика.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Google Shape;273;p25"/>
          <p:cNvSpPr/>
          <p:nvPr/>
        </p:nvSpPr>
        <p:spPr>
          <a:xfrm>
            <a:off x="2714760" y="3795840"/>
            <a:ext cx="7191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Архитектура масштабируема и позволяет добавлять новые типы контента.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Google Shape;274;p25"/>
          <p:cNvSpPr/>
          <p:nvPr/>
        </p:nvSpPr>
        <p:spPr>
          <a:xfrm>
            <a:off x="2714760" y="4319640"/>
            <a:ext cx="7191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Использование триггеров снизило нагрузку на backend-приложение.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4" name="Google Shape;275;p25" descr="image.png"/>
          <p:cNvPicPr/>
          <p:nvPr/>
        </p:nvPicPr>
        <p:blipFill>
          <a:blip r:embed="rId2"/>
          <a:stretch/>
        </p:blipFill>
        <p:spPr>
          <a:xfrm>
            <a:off x="2286000" y="331488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Google Shape;276;p25" descr="image.png"/>
          <p:cNvPicPr/>
          <p:nvPr/>
        </p:nvPicPr>
        <p:blipFill>
          <a:blip r:embed="rId3"/>
          <a:stretch/>
        </p:blipFill>
        <p:spPr>
          <a:xfrm>
            <a:off x="2286000" y="383868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Google Shape;277;p25" descr="image.png"/>
          <p:cNvPicPr/>
          <p:nvPr/>
        </p:nvPicPr>
        <p:blipFill>
          <a:blip r:embed="rId4"/>
          <a:stretch/>
        </p:blipFill>
        <p:spPr>
          <a:xfrm>
            <a:off x="2286000" y="4362480"/>
            <a:ext cx="266400" cy="275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LibreOffice/25.8.7.3$Linux_X86_64 LibreOffice_project/580$Build-3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2026-06-08T13:12:38Z</dcterms:created>
  <dc:creator/>
  <dc:description/>
  <dc:language>en-GB</dc:language>
  <cp:lastModifiedBy/>
  <dcterms:modified xsi:type="dcterms:W3CDTF">2026-06-08T14:40:56Z</dcterms:modified>
  <cp:revision>10</cp:revision>
  <dc:subject/>
  <dc:title/>
</cp:coreProperties>
</file>