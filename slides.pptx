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  <p:embeddedFontLst>
    <p:embeddedFont>
      <p:font typeface="Inter SemiBold"/>
      <p:regular r:id="rId21"/>
      <p:italic r:id="rId22"/>
      <p:boldItalic r:id="rId23"/>
    </p:embeddedFont>
    <p:embeddedFont>
      <p:font typeface="Urbanist Medium"/>
      <p:bold r:id="rId24"/>
      <p:italic r:id="rId25"/>
      <p:boldItalic r:id="rId26"/>
    </p:embeddedFont>
    <p:embeddedFont>
      <p:font typeface="Urbanist"/>
      <p:bold r:id="rId24"/>
      <p:italic r:id="rId25"/>
      <p:boldItalic r:id="rId26"/>
    </p:embeddedFont>
    <p:embeddedFont>
      <p:font typeface="Noto Sans"/>
      <p:regular r:id="rId27"/>
      <p:bold r:id="rId28"/>
      <p:italic r:id="rId29"/>
      <p:boldItalic r:id="rId30"/>
    </p:embeddedFont>
    <p:embeddedFont>
      <p:font typeface="Inter"/>
      <p:regular r:id="rId21"/>
      <p:italic r:id="rId22"/>
      <p:boldItalic r:id="rId23"/>
    </p:embeddedFont>
    <p:embeddedFont>
      <p:font typeface="Noto Sans Devanagari"/>
      <p:regular r:id="rId31"/>
      <p:bold r:id="rId32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font" Target="fonts/Font_1_Inter_SemiBold_Regular.fntdata"/><Relationship Id="rId22" Type="http://schemas.openxmlformats.org/officeDocument/2006/relationships/font" Target="fonts/Font_2_Inter_SemiBold_Italic.fntdata"/><Relationship Id="rId23" Type="http://schemas.openxmlformats.org/officeDocument/2006/relationships/font" Target="fonts/Font_3_Inter_SemiBold_BoldItalic.fntdata"/><Relationship Id="rId24" Type="http://schemas.openxmlformats.org/officeDocument/2006/relationships/font" Target="fonts/Font_4_Urbanist_Medium_Bold.fntdata"/><Relationship Id="rId25" Type="http://schemas.openxmlformats.org/officeDocument/2006/relationships/font" Target="fonts/Font_5_Urbanist_Medium_Italic.fntdata"/><Relationship Id="rId26" Type="http://schemas.openxmlformats.org/officeDocument/2006/relationships/font" Target="fonts/Font_6_Urbanist_Medium_BoldItalic.fntdata"/><Relationship Id="rId27" Type="http://schemas.openxmlformats.org/officeDocument/2006/relationships/font" Target="fonts/Font_7_Noto_Sans_Regular.fntdata"/><Relationship Id="rId28" Type="http://schemas.openxmlformats.org/officeDocument/2006/relationships/font" Target="fonts/Font_8_Noto_Sans_Bold.fntdata"/><Relationship Id="rId29" Type="http://schemas.openxmlformats.org/officeDocument/2006/relationships/font" Target="fonts/Font_9_Noto_Sans_Italic.fntdata"/><Relationship Id="rId30" Type="http://schemas.openxmlformats.org/officeDocument/2006/relationships/font" Target="fonts/Font_10_Noto_Sans_BoldItalic.fntdata"/><Relationship Id="rId31" Type="http://schemas.openxmlformats.org/officeDocument/2006/relationships/font" Target="fonts/Font_11_Noto_Sans_Devanagari_Regular.fntdata"/><Relationship Id="rId32" Type="http://schemas.openxmlformats.org/officeDocument/2006/relationships/font" Target="fonts/Font_12_Noto_Sans_Devanagari_Bold.fntdata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F9BE14-64CC-4D49-A6D3-DC7FF1DF694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40C236-AFC1-41A9-A3E7-EF684BA25D4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42CA10-755F-4A13-B815-9D9D7577BB7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9C53A1-B0A2-42B4-843E-38183B10D98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 rot="5400000">
            <a:off x="2309760" y="-251640"/>
            <a:ext cx="4525200" cy="822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FA239C-F9A9-4C09-B082-F0C88DB40FD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 rot="5400000">
            <a:off x="4732920" y="2171520"/>
            <a:ext cx="5850720" cy="205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format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 rot="5400000">
            <a:off x="542160" y="189720"/>
            <a:ext cx="5850720" cy="601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4021C9-B389-404C-8502-140C3A63FDF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E9CE38-C568-45DE-8659-B6327D30C72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0B3ED0-623A-41B2-860D-962A4D12F42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9FCEC4-17AB-4546-AB01-A866E1661E9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ACB6E0-C3BE-4C16-8F30-0BF9B4744C5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4351F1-ECE7-4D53-AB47-A91C973D006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6.png"/><Relationship Id="rId3" Type="http://schemas.openxmlformats.org/officeDocument/2006/relationships/image" Target="../media/image36.png"/><Relationship Id="rId4" Type="http://schemas.openxmlformats.org/officeDocument/2006/relationships/image" Target="../media/image36.png"/><Relationship Id="rId5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oogle Shape;85;p13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Google Shape;86;p13"/>
          <p:cNvSpPr/>
          <p:nvPr/>
        </p:nvSpPr>
        <p:spPr>
          <a:xfrm>
            <a:off x="295200" y="1253880"/>
            <a:ext cx="1160064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lang="en-US" sz="540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Проектирование БД</a:t>
            </a:r>
            <a:endParaRPr lang="ru-RU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7;p13"/>
          <p:cNvSpPr/>
          <p:nvPr/>
        </p:nvSpPr>
        <p:spPr>
          <a:xfrm>
            <a:off x="571680" y="3048120"/>
            <a:ext cx="11048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38bdf8"/>
                </a:solidFill>
                <a:effectLst/>
                <a:uFillTx/>
                <a:latin typeface="Inter"/>
                <a:ea typeface="Inter"/>
              </a:rPr>
              <a:t>База данных музыкального стримингого сервиса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38bdf8"/>
                </a:solidFill>
                <a:effectLst/>
                <a:uFillTx/>
                <a:latin typeface="Inter"/>
                <a:ea typeface="Inter"/>
              </a:rPr>
              <a:t>https://github.com/kirzach-678/music-streaming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8;p13"/>
          <p:cNvSpPr/>
          <p:nvPr/>
        </p:nvSpPr>
        <p:spPr>
          <a:xfrm>
            <a:off x="571680" y="4095720"/>
            <a:ext cx="11048400" cy="1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5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Выполнили: </a:t>
            </a:r>
            <a:r>
              <a:rPr lang="en-US" sz="1650" b="1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Воскресенский К.А., Евтишенков Е.Р.</a:t>
            </a:r>
            <a:br>
              <a:rPr sz="1800"/>
            </a:br>
            <a:r>
              <a:rPr lang="en-US" sz="16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Группа: </a:t>
            </a:r>
            <a:r>
              <a:rPr lang="en-US" sz="1650" b="1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2ИСИП-824</a:t>
            </a:r>
            <a:br>
              <a:rPr sz="1800"/>
            </a:br>
            <a:r>
              <a:rPr lang="en-US" sz="165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Преподаватель: </a:t>
            </a:r>
            <a:r>
              <a:rPr lang="en-US" sz="1650" b="1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Гордеев И.Д.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93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94;p14"/>
          <p:cNvSpPr/>
          <p:nvPr/>
        </p:nvSpPr>
        <p:spPr>
          <a:xfrm>
            <a:off x="1000080" y="2781360"/>
            <a:ext cx="1061964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Цель: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 Разработка надежной реляционной модели данных для управления контентом и подписками музыкального сервиса.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5;p14"/>
          <p:cNvSpPr/>
          <p:nvPr/>
        </p:nvSpPr>
        <p:spPr>
          <a:xfrm>
            <a:off x="1000080" y="3591000"/>
            <a:ext cx="106196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Задача 1: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 Реализация сложной структуры релизов (синглы, альбомы) с поддержкой дублирования песен.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6;p14"/>
          <p:cNvSpPr/>
          <p:nvPr/>
        </p:nvSpPr>
        <p:spPr>
          <a:xfrm>
            <a:off x="1000080" y="4114800"/>
            <a:ext cx="106196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Задача 2: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 Организация системы платного доступа и автоматизации продления подписки через триггеры.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7;p14"/>
          <p:cNvSpPr/>
          <p:nvPr/>
        </p:nvSpPr>
        <p:spPr>
          <a:xfrm>
            <a:off x="1000080" y="4638600"/>
            <a:ext cx="1061964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Задача 3: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 Настройка связей "многие-ко-многим" для жанров, артистов и участников коллективов.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Google Shape;98;p14" descr="image.png"/>
          <p:cNvPicPr/>
          <p:nvPr/>
        </p:nvPicPr>
        <p:blipFill>
          <a:blip r:embed="rId2"/>
          <a:stretch/>
        </p:blipFill>
        <p:spPr>
          <a:xfrm>
            <a:off x="571680" y="2824200"/>
            <a:ext cx="266040" cy="27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Google Shape;99;p14" descr="image.png"/>
          <p:cNvPicPr/>
          <p:nvPr/>
        </p:nvPicPr>
        <p:blipFill>
          <a:blip r:embed="rId3"/>
          <a:stretch/>
        </p:blipFill>
        <p:spPr>
          <a:xfrm>
            <a:off x="571680" y="3633840"/>
            <a:ext cx="237240" cy="27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oogle Shape;100;p14" descr="image.png"/>
          <p:cNvPicPr/>
          <p:nvPr/>
        </p:nvPicPr>
        <p:blipFill>
          <a:blip r:embed="rId4"/>
          <a:stretch/>
        </p:blipFill>
        <p:spPr>
          <a:xfrm>
            <a:off x="571680" y="4157640"/>
            <a:ext cx="237240" cy="27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101;p14" descr="image.png"/>
          <p:cNvPicPr/>
          <p:nvPr/>
        </p:nvPicPr>
        <p:blipFill>
          <a:blip r:embed="rId5"/>
          <a:stretch/>
        </p:blipFill>
        <p:spPr>
          <a:xfrm>
            <a:off x="571680" y="4681440"/>
            <a:ext cx="237240" cy="27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Google Shape;102;p14"/>
          <p:cNvSpPr/>
          <p:nvPr/>
        </p:nvSpPr>
        <p:spPr>
          <a:xfrm>
            <a:off x="762120" y="571680"/>
            <a:ext cx="1140084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Цель и задачи проекта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03;p14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108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oogle Shape;109;p15" descr="image.png"/>
          <p:cNvPicPr/>
          <p:nvPr/>
        </p:nvPicPr>
        <p:blipFill>
          <a:blip r:embed="rId2"/>
          <a:stretch/>
        </p:blipFill>
        <p:spPr>
          <a:xfrm>
            <a:off x="571680" y="2257560"/>
            <a:ext cx="3492000" cy="327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Google Shape;110;p15" descr="image.png"/>
          <p:cNvPicPr/>
          <p:nvPr/>
        </p:nvPicPr>
        <p:blipFill>
          <a:blip r:embed="rId3"/>
          <a:stretch/>
        </p:blipFill>
        <p:spPr>
          <a:xfrm>
            <a:off x="4349880" y="2257560"/>
            <a:ext cx="3492000" cy="327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Google Shape;111;p15" descr="image.png"/>
          <p:cNvPicPr/>
          <p:nvPr/>
        </p:nvPicPr>
        <p:blipFill>
          <a:blip r:embed="rId4"/>
          <a:stretch/>
        </p:blipFill>
        <p:spPr>
          <a:xfrm>
            <a:off x="8128080" y="2257560"/>
            <a:ext cx="3492000" cy="327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Google Shape;112;p15"/>
          <p:cNvSpPr/>
          <p:nvPr/>
        </p:nvSpPr>
        <p:spPr>
          <a:xfrm>
            <a:off x="914400" y="3305160"/>
            <a:ext cx="294624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Контент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13;p15"/>
          <p:cNvSpPr/>
          <p:nvPr/>
        </p:nvSpPr>
        <p:spPr>
          <a:xfrm>
            <a:off x="914400" y="3857760"/>
            <a:ext cx="28062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Управление песнями, жанрами и релизами. Поддержка версионности (ремиксы, переиздания).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14;p15"/>
          <p:cNvSpPr/>
          <p:nvPr/>
        </p:nvSpPr>
        <p:spPr>
          <a:xfrm>
            <a:off x="4692600" y="3305160"/>
            <a:ext cx="294624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Роли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15;p15"/>
          <p:cNvSpPr/>
          <p:nvPr/>
        </p:nvSpPr>
        <p:spPr>
          <a:xfrm>
            <a:off x="4692600" y="3857760"/>
            <a:ext cx="280620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Артисты, лейблы и сотрудники. Пользователи могут подавать заявки на эти роли.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16;p15"/>
          <p:cNvSpPr/>
          <p:nvPr/>
        </p:nvSpPr>
        <p:spPr>
          <a:xfrm>
            <a:off x="8471160" y="3305160"/>
            <a:ext cx="294624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Бизнес-модель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7;p15"/>
          <p:cNvSpPr/>
          <p:nvPr/>
        </p:nvSpPr>
        <p:spPr>
          <a:xfrm>
            <a:off x="8471160" y="3857760"/>
            <a:ext cx="280620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Доступ к прослушиванию только при активной платной подписке. Хранение истории оплаты.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Google Shape;118;p15" descr="image.png"/>
          <p:cNvPicPr/>
          <p:nvPr/>
        </p:nvPicPr>
        <p:blipFill>
          <a:blip r:embed="rId5"/>
          <a:stretch/>
        </p:blipFill>
        <p:spPr>
          <a:xfrm>
            <a:off x="914400" y="2647800"/>
            <a:ext cx="418320" cy="41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Google Shape;119;p15" descr="image.png"/>
          <p:cNvPicPr/>
          <p:nvPr/>
        </p:nvPicPr>
        <p:blipFill>
          <a:blip r:embed="rId6"/>
          <a:stretch/>
        </p:blipFill>
        <p:spPr>
          <a:xfrm>
            <a:off x="4692600" y="2647800"/>
            <a:ext cx="523080" cy="41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Google Shape;120;p15" descr="image.png"/>
          <p:cNvPicPr/>
          <p:nvPr/>
        </p:nvPicPr>
        <p:blipFill>
          <a:blip r:embed="rId7"/>
          <a:stretch/>
        </p:blipFill>
        <p:spPr>
          <a:xfrm>
            <a:off x="8471160" y="2647800"/>
            <a:ext cx="475560" cy="41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Google Shape;121;p15"/>
          <p:cNvSpPr/>
          <p:nvPr/>
        </p:nvSpPr>
        <p:spPr>
          <a:xfrm>
            <a:off x="762120" y="571680"/>
            <a:ext cx="1140084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Предметная область и процессы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22;p15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127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Google Shape;128;p16" descr="image.png"/>
          <p:cNvPicPr/>
          <p:nvPr/>
        </p:nvPicPr>
        <p:blipFill>
          <a:blip r:embed="rId2"/>
          <a:stretch/>
        </p:blipFill>
        <p:spPr>
          <a:xfrm>
            <a:off x="335880" y="1800000"/>
            <a:ext cx="11519640" cy="449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Google Shape;130;p16"/>
          <p:cNvSpPr/>
          <p:nvPr/>
        </p:nvSpPr>
        <p:spPr>
          <a:xfrm>
            <a:off x="762120" y="571680"/>
            <a:ext cx="114008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Описание основных сущностей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31;p16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"/>
          <p:cNvPicPr/>
          <p:nvPr/>
        </p:nvPicPr>
        <p:blipFill>
          <a:blip r:embed="rId3"/>
          <a:stretch/>
        </p:blipFill>
        <p:spPr>
          <a:xfrm>
            <a:off x="515880" y="1995120"/>
            <a:ext cx="11159640" cy="4129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159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Google Shape;160;p18" descr="image.png"/>
          <p:cNvPicPr/>
          <p:nvPr/>
        </p:nvPicPr>
        <p:blipFill>
          <a:blip r:embed="rId2"/>
          <a:stretch/>
        </p:blipFill>
        <p:spPr>
          <a:xfrm>
            <a:off x="571680" y="2085840"/>
            <a:ext cx="5285520" cy="28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Google Shape;161;p18" descr="image.png"/>
          <p:cNvPicPr/>
          <p:nvPr/>
        </p:nvPicPr>
        <p:blipFill>
          <a:blip r:embed="rId3"/>
          <a:stretch/>
        </p:blipFill>
        <p:spPr>
          <a:xfrm>
            <a:off x="6334200" y="2085840"/>
            <a:ext cx="5285520" cy="259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Google Shape;162;p18"/>
          <p:cNvSpPr/>
          <p:nvPr/>
        </p:nvSpPr>
        <p:spPr>
          <a:xfrm>
            <a:off x="571680" y="5229360"/>
            <a:ext cx="1104840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lang="en-US" sz="1500" b="0" i="1" u="none" strike="noStrike">
                <a:solidFill>
                  <a:srgbClr val="38bdf8"/>
                </a:solidFill>
                <a:effectLst/>
                <a:uFillTx/>
                <a:latin typeface="Inter"/>
                <a:ea typeface="Inter"/>
              </a:rPr>
              <a:t>БД приведена к 3NF, что минимизирует избыточность и аномалии обновления.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63;p18"/>
          <p:cNvSpPr/>
          <p:nvPr/>
        </p:nvSpPr>
        <p:spPr>
          <a:xfrm>
            <a:off x="914400" y="2428920"/>
            <a:ext cx="482976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1NF → 2NF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64;p18"/>
          <p:cNvSpPr/>
          <p:nvPr/>
        </p:nvSpPr>
        <p:spPr>
          <a:xfrm>
            <a:off x="914400" y="2981160"/>
            <a:ext cx="459972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Устранение частичных зависимостей. Атрибуты неключевых сущностей зависят от полного первичного ключа. Выделение связующих таблиц для "многие-ко-многим" (Song-Release, Song-Genre).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65;p18"/>
          <p:cNvSpPr/>
          <p:nvPr/>
        </p:nvSpPr>
        <p:spPr>
          <a:xfrm>
            <a:off x="6676920" y="2428920"/>
            <a:ext cx="482976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2NF → 3NF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66;p18"/>
          <p:cNvSpPr/>
          <p:nvPr/>
        </p:nvSpPr>
        <p:spPr>
          <a:xfrm>
            <a:off x="6676920" y="2981160"/>
            <a:ext cx="4599720" cy="11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Удаление транзитивных зависимостей. Например, информация о лейбле вынесена в отдельную таблицу labels, чтобы в таблице releases хранился только внешний ключ.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67;p18"/>
          <p:cNvSpPr/>
          <p:nvPr/>
        </p:nvSpPr>
        <p:spPr>
          <a:xfrm>
            <a:off x="762120" y="571680"/>
            <a:ext cx="1140084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Нормализация базы данных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68;p18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73;p1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Google Shape;174;p19"/>
          <p:cNvSpPr/>
          <p:nvPr/>
        </p:nvSpPr>
        <p:spPr>
          <a:xfrm>
            <a:off x="762120" y="571680"/>
            <a:ext cx="500004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Схема в DBeaver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75;p19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77;p19"/>
          <p:cNvSpPr/>
          <p:nvPr/>
        </p:nvSpPr>
        <p:spPr>
          <a:xfrm>
            <a:off x="6840000" y="720000"/>
            <a:ext cx="51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Физическая модель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"/>
          <p:cNvPicPr/>
          <p:nvPr/>
        </p:nvPicPr>
        <p:blipFill>
          <a:blip r:embed="rId2"/>
          <a:stretch/>
        </p:blipFill>
        <p:spPr>
          <a:xfrm>
            <a:off x="0" y="1668600"/>
            <a:ext cx="12191400" cy="5189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73;p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Google Shape;174;p 2"/>
          <p:cNvSpPr/>
          <p:nvPr/>
        </p:nvSpPr>
        <p:spPr>
          <a:xfrm>
            <a:off x="762120" y="571680"/>
            <a:ext cx="50000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Схема в DBeaver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75;p 2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77;p 2"/>
          <p:cNvSpPr/>
          <p:nvPr/>
        </p:nvSpPr>
        <p:spPr>
          <a:xfrm>
            <a:off x="6840000" y="720000"/>
            <a:ext cx="51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Физическая модель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"/>
          <p:cNvPicPr/>
          <p:nvPr/>
        </p:nvPicPr>
        <p:blipFill>
          <a:blip r:embed="rId2"/>
          <a:stretch/>
        </p:blipFill>
        <p:spPr>
          <a:xfrm>
            <a:off x="0" y="1658520"/>
            <a:ext cx="12191400" cy="5199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73;p 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Google Shape;174;p 3"/>
          <p:cNvSpPr/>
          <p:nvPr/>
        </p:nvSpPr>
        <p:spPr>
          <a:xfrm>
            <a:off x="762120" y="571680"/>
            <a:ext cx="50000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Схема в DBeaver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75;p 3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77;p 3"/>
          <p:cNvSpPr/>
          <p:nvPr/>
        </p:nvSpPr>
        <p:spPr>
          <a:xfrm>
            <a:off x="6840000" y="720000"/>
            <a:ext cx="519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Физическая модель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"/>
          <p:cNvPicPr/>
          <p:nvPr/>
        </p:nvPicPr>
        <p:blipFill>
          <a:blip r:embed="rId2"/>
          <a:stretch/>
        </p:blipFill>
        <p:spPr>
          <a:xfrm>
            <a:off x="966240" y="1382040"/>
            <a:ext cx="10259280" cy="5475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73;p 3" descr="image.png"/>
          <p:cNvPicPr/>
          <p:nvPr/>
        </p:nvPicPr>
        <p:blipFill>
          <a:blip r:embed="rId1"/>
          <a:stretch/>
        </p:blipFill>
        <p:spPr>
          <a:xfrm>
            <a:off x="0" y="36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Google Shape;202;p20"/>
          <p:cNvSpPr/>
          <p:nvPr/>
        </p:nvSpPr>
        <p:spPr>
          <a:xfrm>
            <a:off x="762120" y="571680"/>
            <a:ext cx="1140084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Примеры наполнения таблиц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03;p20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77;p 1"/>
          <p:cNvSpPr/>
          <p:nvPr/>
        </p:nvSpPr>
        <p:spPr>
          <a:xfrm>
            <a:off x="6840360" y="612360"/>
            <a:ext cx="51998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users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"/>
          <p:cNvPicPr/>
          <p:nvPr/>
        </p:nvPicPr>
        <p:blipFill>
          <a:blip r:embed="rId2"/>
          <a:stretch/>
        </p:blipFill>
        <p:spPr>
          <a:xfrm>
            <a:off x="0" y="1919160"/>
            <a:ext cx="12191400" cy="493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73;p 4" descr="image.png"/>
          <p:cNvPicPr/>
          <p:nvPr/>
        </p:nvPicPr>
        <p:blipFill>
          <a:blip r:embed="rId1"/>
          <a:stretch/>
        </p:blipFill>
        <p:spPr>
          <a:xfrm>
            <a:off x="0" y="36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Google Shape;202;p 2"/>
          <p:cNvSpPr/>
          <p:nvPr/>
        </p:nvSpPr>
        <p:spPr>
          <a:xfrm>
            <a:off x="762120" y="571680"/>
            <a:ext cx="114008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Примеры наполнения таблиц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203;p 2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77;p 4"/>
          <p:cNvSpPr/>
          <p:nvPr/>
        </p:nvSpPr>
        <p:spPr>
          <a:xfrm>
            <a:off x="6840360" y="612360"/>
            <a:ext cx="51998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songs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"/>
          <p:cNvPicPr/>
          <p:nvPr/>
        </p:nvPicPr>
        <p:blipFill>
          <a:blip r:embed="rId2"/>
          <a:stretch/>
        </p:blipFill>
        <p:spPr>
          <a:xfrm>
            <a:off x="0" y="1895760"/>
            <a:ext cx="12191400" cy="494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73;p 5" descr="image.png"/>
          <p:cNvPicPr/>
          <p:nvPr/>
        </p:nvPicPr>
        <p:blipFill>
          <a:blip r:embed="rId1"/>
          <a:stretch/>
        </p:blipFill>
        <p:spPr>
          <a:xfrm>
            <a:off x="0" y="36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Google Shape;202;p 3"/>
          <p:cNvSpPr/>
          <p:nvPr/>
        </p:nvSpPr>
        <p:spPr>
          <a:xfrm>
            <a:off x="762120" y="571680"/>
            <a:ext cx="114008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Примеры наполнения таблиц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203;p 3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77;p 5"/>
          <p:cNvSpPr/>
          <p:nvPr/>
        </p:nvSpPr>
        <p:spPr>
          <a:xfrm>
            <a:off x="6840360" y="612360"/>
            <a:ext cx="51998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payments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" name=""/>
          <p:cNvPicPr/>
          <p:nvPr/>
        </p:nvPicPr>
        <p:blipFill>
          <a:blip r:embed="rId2"/>
          <a:stretch/>
        </p:blipFill>
        <p:spPr>
          <a:xfrm>
            <a:off x="0" y="1895760"/>
            <a:ext cx="12191400" cy="494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73;p 6" descr="image.png"/>
          <p:cNvPicPr/>
          <p:nvPr/>
        </p:nvPicPr>
        <p:blipFill>
          <a:blip r:embed="rId1"/>
          <a:stretch/>
        </p:blipFill>
        <p:spPr>
          <a:xfrm>
            <a:off x="0" y="36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Google Shape;202;p 4"/>
          <p:cNvSpPr/>
          <p:nvPr/>
        </p:nvSpPr>
        <p:spPr>
          <a:xfrm>
            <a:off x="762120" y="571680"/>
            <a:ext cx="114008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Примеры запросов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203;p 4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77;p 6"/>
          <p:cNvSpPr/>
          <p:nvPr/>
        </p:nvSpPr>
        <p:spPr>
          <a:xfrm>
            <a:off x="6840360" y="612360"/>
            <a:ext cx="51998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топ песен по удержанию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1" name=""/>
          <p:cNvPicPr/>
          <p:nvPr/>
        </p:nvPicPr>
        <p:blipFill>
          <a:blip r:embed="rId2"/>
          <a:stretch/>
        </p:blipFill>
        <p:spPr>
          <a:xfrm>
            <a:off x="408240" y="1800000"/>
            <a:ext cx="8411400" cy="189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"/>
          <p:cNvPicPr/>
          <p:nvPr/>
        </p:nvPicPr>
        <p:blipFill>
          <a:blip r:embed="rId3"/>
          <a:stretch/>
        </p:blipFill>
        <p:spPr>
          <a:xfrm>
            <a:off x="6660000" y="4770000"/>
            <a:ext cx="5219640" cy="170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73;p 7" descr="image.png"/>
          <p:cNvPicPr/>
          <p:nvPr/>
        </p:nvPicPr>
        <p:blipFill>
          <a:blip r:embed="rId1"/>
          <a:stretch/>
        </p:blipFill>
        <p:spPr>
          <a:xfrm>
            <a:off x="0" y="36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Google Shape;202;p 5"/>
          <p:cNvSpPr/>
          <p:nvPr/>
        </p:nvSpPr>
        <p:spPr>
          <a:xfrm>
            <a:off x="762120" y="571680"/>
            <a:ext cx="114008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Примеры запросов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203;p 5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77;p 7"/>
          <p:cNvSpPr/>
          <p:nvPr/>
        </p:nvSpPr>
        <p:spPr>
          <a:xfrm>
            <a:off x="5940000" y="612360"/>
            <a:ext cx="6100200" cy="97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бан пользователей, у которых не прошла оплата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"/>
          <p:cNvPicPr/>
          <p:nvPr/>
        </p:nvPicPr>
        <p:blipFill>
          <a:blip r:embed="rId2"/>
          <a:stretch/>
        </p:blipFill>
        <p:spPr>
          <a:xfrm>
            <a:off x="360000" y="1638000"/>
            <a:ext cx="7632720" cy="419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"/>
          <p:cNvPicPr/>
          <p:nvPr/>
        </p:nvPicPr>
        <p:blipFill>
          <a:blip r:embed="rId3"/>
          <a:stretch/>
        </p:blipFill>
        <p:spPr>
          <a:xfrm>
            <a:off x="7380000" y="3998880"/>
            <a:ext cx="4319640" cy="258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73;p 8" descr="image.png"/>
          <p:cNvPicPr/>
          <p:nvPr/>
        </p:nvPicPr>
        <p:blipFill>
          <a:blip r:embed="rId1"/>
          <a:stretch/>
        </p:blipFill>
        <p:spPr>
          <a:xfrm>
            <a:off x="0" y="36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Google Shape;202;p 6"/>
          <p:cNvSpPr/>
          <p:nvPr/>
        </p:nvSpPr>
        <p:spPr>
          <a:xfrm>
            <a:off x="762120" y="571680"/>
            <a:ext cx="114008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Примеры запросов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203;p 6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77;p 8"/>
          <p:cNvSpPr/>
          <p:nvPr/>
        </p:nvSpPr>
        <p:spPr>
          <a:xfrm>
            <a:off x="6300000" y="612360"/>
            <a:ext cx="5740200" cy="9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проверка пароля при входе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3" name=""/>
          <p:cNvPicPr/>
          <p:nvPr/>
        </p:nvPicPr>
        <p:blipFill>
          <a:blip r:embed="rId2"/>
          <a:stretch/>
        </p:blipFill>
        <p:spPr>
          <a:xfrm>
            <a:off x="360000" y="1620000"/>
            <a:ext cx="9541800" cy="217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"/>
          <p:cNvPicPr/>
          <p:nvPr/>
        </p:nvPicPr>
        <p:blipFill>
          <a:blip r:embed="rId3"/>
          <a:stretch/>
        </p:blipFill>
        <p:spPr>
          <a:xfrm>
            <a:off x="8156880" y="4140000"/>
            <a:ext cx="3722760" cy="248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73;p 9" descr="image.png"/>
          <p:cNvPicPr/>
          <p:nvPr/>
        </p:nvPicPr>
        <p:blipFill>
          <a:blip r:embed="rId1"/>
          <a:stretch/>
        </p:blipFill>
        <p:spPr>
          <a:xfrm>
            <a:off x="0" y="36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Google Shape;202;p 7"/>
          <p:cNvSpPr/>
          <p:nvPr/>
        </p:nvSpPr>
        <p:spPr>
          <a:xfrm>
            <a:off x="762120" y="571680"/>
            <a:ext cx="114008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Примеры запросов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203;p 7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77;p 9"/>
          <p:cNvSpPr/>
          <p:nvPr/>
        </p:nvSpPr>
        <p:spPr>
          <a:xfrm>
            <a:off x="6840360" y="612360"/>
            <a:ext cx="5199840" cy="9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песни по длине внутри жанров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"/>
          <p:cNvPicPr/>
          <p:nvPr/>
        </p:nvPicPr>
        <p:blipFill>
          <a:blip r:embed="rId2"/>
          <a:stretch/>
        </p:blipFill>
        <p:spPr>
          <a:xfrm>
            <a:off x="6465600" y="2214000"/>
            <a:ext cx="5234040" cy="444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"/>
          <p:cNvPicPr/>
          <p:nvPr/>
        </p:nvPicPr>
        <p:blipFill>
          <a:blip r:embed="rId3"/>
          <a:stretch/>
        </p:blipFill>
        <p:spPr>
          <a:xfrm>
            <a:off x="319680" y="1440000"/>
            <a:ext cx="9759960" cy="1837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234;p2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Google Shape;235;p23" descr="image.png"/>
          <p:cNvPicPr/>
          <p:nvPr/>
        </p:nvPicPr>
        <p:blipFill>
          <a:blip r:embed="rId2"/>
          <a:stretch/>
        </p:blipFill>
        <p:spPr>
          <a:xfrm>
            <a:off x="571680" y="4876920"/>
            <a:ext cx="11048400" cy="190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Google Shape;236;p23"/>
          <p:cNvSpPr/>
          <p:nvPr/>
        </p:nvSpPr>
        <p:spPr>
          <a:xfrm>
            <a:off x="952560" y="1886040"/>
            <a:ext cx="452376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90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100%</a:t>
            </a:r>
            <a:endParaRPr lang="ru-RU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37;p23"/>
          <p:cNvSpPr/>
          <p:nvPr/>
        </p:nvSpPr>
        <p:spPr>
          <a:xfrm>
            <a:off x="952560" y="3029040"/>
            <a:ext cx="45237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f8fafc"/>
                </a:solidFill>
                <a:effectLst/>
                <a:uFillTx/>
                <a:latin typeface="Inter SemiBold"/>
                <a:ea typeface="Inter SemiBold"/>
              </a:rPr>
              <a:t>КОНТРОЛЬ ДОСТУПА</a:t>
            </a:r>
            <a:endParaRPr lang="ru-RU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38;p23"/>
          <p:cNvSpPr/>
          <p:nvPr/>
        </p:nvSpPr>
        <p:spPr>
          <a:xfrm>
            <a:off x="952560" y="3543480"/>
            <a:ext cx="452376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БД гарантирует доступ к контенту только при наличии валидного платежа.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39;p23"/>
          <p:cNvSpPr/>
          <p:nvPr/>
        </p:nvSpPr>
        <p:spPr>
          <a:xfrm>
            <a:off x="6334200" y="1504800"/>
            <a:ext cx="55501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Возможности системы: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40;p23"/>
          <p:cNvSpPr/>
          <p:nvPr/>
        </p:nvSpPr>
        <p:spPr>
          <a:xfrm>
            <a:off x="6762600" y="2019240"/>
            <a:ext cx="4857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Анализ популярности песен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41;p23"/>
          <p:cNvSpPr/>
          <p:nvPr/>
        </p:nvSpPr>
        <p:spPr>
          <a:xfrm>
            <a:off x="6762600" y="2828880"/>
            <a:ext cx="4857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История платежей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42;p23"/>
          <p:cNvSpPr/>
          <p:nvPr/>
        </p:nvSpPr>
        <p:spPr>
          <a:xfrm>
            <a:off x="6762600" y="3638520"/>
            <a:ext cx="4857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Система артистов и лейблов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" name="Google Shape;243;p23" descr="image.png"/>
          <p:cNvPicPr/>
          <p:nvPr/>
        </p:nvPicPr>
        <p:blipFill>
          <a:blip r:embed="rId3"/>
          <a:stretch/>
        </p:blipFill>
        <p:spPr>
          <a:xfrm>
            <a:off x="6334200" y="2062080"/>
            <a:ext cx="266040" cy="27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Google Shape;244;p23" descr="image.png"/>
          <p:cNvPicPr/>
          <p:nvPr/>
        </p:nvPicPr>
        <p:blipFill>
          <a:blip r:embed="rId4"/>
          <a:stretch/>
        </p:blipFill>
        <p:spPr>
          <a:xfrm>
            <a:off x="6334200" y="2871720"/>
            <a:ext cx="266040" cy="27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Google Shape;245;p23" descr="image.png"/>
          <p:cNvPicPr/>
          <p:nvPr/>
        </p:nvPicPr>
        <p:blipFill>
          <a:blip r:embed="rId5"/>
          <a:stretch/>
        </p:blipFill>
        <p:spPr>
          <a:xfrm>
            <a:off x="6334200" y="3681360"/>
            <a:ext cx="266040" cy="27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Google Shape;246;p23"/>
          <p:cNvSpPr/>
          <p:nvPr/>
        </p:nvSpPr>
        <p:spPr>
          <a:xfrm>
            <a:off x="762120" y="571680"/>
            <a:ext cx="1140084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Аналитика и полезность БД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47;p23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252;p2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Google Shape;253;p24" descr="image.png"/>
          <p:cNvPicPr/>
          <p:nvPr/>
        </p:nvPicPr>
        <p:blipFill>
          <a:blip r:embed="rId2"/>
          <a:stretch/>
        </p:blipFill>
        <p:spPr>
          <a:xfrm>
            <a:off x="571680" y="1852560"/>
            <a:ext cx="3492000" cy="408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Google Shape;254;p24" descr="image.png"/>
          <p:cNvPicPr/>
          <p:nvPr/>
        </p:nvPicPr>
        <p:blipFill>
          <a:blip r:embed="rId3"/>
          <a:stretch/>
        </p:blipFill>
        <p:spPr>
          <a:xfrm>
            <a:off x="4349880" y="1852560"/>
            <a:ext cx="3492000" cy="408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Google Shape;255;p24" descr="image.png"/>
          <p:cNvPicPr/>
          <p:nvPr/>
        </p:nvPicPr>
        <p:blipFill>
          <a:blip r:embed="rId4"/>
          <a:stretch/>
        </p:blipFill>
        <p:spPr>
          <a:xfrm>
            <a:off x="8128080" y="1852560"/>
            <a:ext cx="3492000" cy="40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Google Shape;256;p24"/>
          <p:cNvSpPr/>
          <p:nvPr/>
        </p:nvSpPr>
        <p:spPr>
          <a:xfrm>
            <a:off x="914400" y="2195640"/>
            <a:ext cx="294624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Сложность связей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257;p24"/>
          <p:cNvSpPr/>
          <p:nvPr/>
        </p:nvSpPr>
        <p:spPr>
          <a:xfrm>
            <a:off x="914400" y="2747880"/>
            <a:ext cx="2806200" cy="19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Проблема: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 Одна песня в разных релизах с разными номерами дорожек.</a:t>
            </a:r>
            <a:br>
              <a:rPr sz="1800"/>
            </a:b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Решение: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 Создание song_releases с составным ключом и UNIQUE на пару (release_id, track_no).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58;p24"/>
          <p:cNvSpPr/>
          <p:nvPr/>
        </p:nvSpPr>
        <p:spPr>
          <a:xfrm>
            <a:off x="4692600" y="2195640"/>
            <a:ext cx="294624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Автоматизация дат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59;p24"/>
          <p:cNvSpPr/>
          <p:nvPr/>
        </p:nvSpPr>
        <p:spPr>
          <a:xfrm>
            <a:off x="4692600" y="3110040"/>
            <a:ext cx="2806200" cy="19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Проблема: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 Сложность вычисления окончания подписки при нескольких платежах.</a:t>
            </a:r>
            <a:br>
              <a:rPr sz="1800"/>
            </a:b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Решение: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 Написан PL/pgSQL триггер, который обновляет subscription_active_until.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60;p24"/>
          <p:cNvSpPr/>
          <p:nvPr/>
        </p:nvSpPr>
        <p:spPr>
          <a:xfrm>
            <a:off x="8471160" y="2195640"/>
            <a:ext cx="2946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Безопасность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61;p24"/>
          <p:cNvSpPr/>
          <p:nvPr/>
        </p:nvSpPr>
        <p:spPr>
          <a:xfrm>
            <a:off x="8471160" y="2747880"/>
            <a:ext cx="28062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Проблема: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 Хранить пароли открыто небезопасно.</a:t>
            </a:r>
            <a:br>
              <a:rPr sz="1800"/>
            </a:b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Решение: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 Хэширование засоленных паролей.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62;p24"/>
          <p:cNvSpPr/>
          <p:nvPr/>
        </p:nvSpPr>
        <p:spPr>
          <a:xfrm>
            <a:off x="762120" y="571680"/>
            <a:ext cx="1140084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0" u="none" strike="noStrike">
                <a:solidFill>
                  <a:srgbClr val="f8fafc"/>
                </a:solidFill>
                <a:effectLst/>
                <a:uFillTx/>
                <a:latin typeface="Urbanist Medium"/>
                <a:ea typeface="Urbanist Medium"/>
              </a:rPr>
              <a:t>Сложности и их решение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63;p24"/>
          <p:cNvSpPr/>
          <p:nvPr/>
        </p:nvSpPr>
        <p:spPr>
          <a:xfrm>
            <a:off x="571680" y="571680"/>
            <a:ext cx="56520" cy="5518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268;p2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Google Shape;269;p25"/>
          <p:cNvSpPr/>
          <p:nvPr/>
        </p:nvSpPr>
        <p:spPr>
          <a:xfrm>
            <a:off x="295200" y="571680"/>
            <a:ext cx="11600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Выводы</a:t>
            </a:r>
            <a:endParaRPr lang="ru-RU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70;p25"/>
          <p:cNvSpPr/>
          <p:nvPr/>
        </p:nvSpPr>
        <p:spPr>
          <a:xfrm>
            <a:off x="2286000" y="2071800"/>
            <a:ext cx="761940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В ходе проекта была спроектирована и реализована база данных для музыкального сервиса на PostgreSQL.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71;p25"/>
          <p:cNvSpPr/>
          <p:nvPr/>
        </p:nvSpPr>
        <p:spPr>
          <a:xfrm>
            <a:off x="2286000" y="5319720"/>
            <a:ext cx="76194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38bdf8"/>
                </a:solidFill>
                <a:effectLst/>
                <a:uFillTx/>
                <a:latin typeface="Inter"/>
                <a:ea typeface="Inter"/>
              </a:rPr>
              <a:t>Спасибо за внимание!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72;p25"/>
          <p:cNvSpPr/>
          <p:nvPr/>
        </p:nvSpPr>
        <p:spPr>
          <a:xfrm>
            <a:off x="2714760" y="3271680"/>
            <a:ext cx="71906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Модель данных соответствует всем требованиям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73;p25"/>
          <p:cNvSpPr/>
          <p:nvPr/>
        </p:nvSpPr>
        <p:spPr>
          <a:xfrm>
            <a:off x="2714760" y="3795840"/>
            <a:ext cx="71906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Архитектура масштабируемая и позволяет добавлять новые типы контента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74;p25"/>
          <p:cNvSpPr/>
          <p:nvPr/>
        </p:nvSpPr>
        <p:spPr>
          <a:xfrm>
            <a:off x="2714760" y="4319640"/>
            <a:ext cx="71906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Использование триггеров снизило нагрузку на backend-приложение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4" name="Google Shape;275;p25" descr="image.png"/>
          <p:cNvPicPr/>
          <p:nvPr/>
        </p:nvPicPr>
        <p:blipFill>
          <a:blip r:embed="rId2"/>
          <a:stretch/>
        </p:blipFill>
        <p:spPr>
          <a:xfrm>
            <a:off x="2286000" y="3314880"/>
            <a:ext cx="266040" cy="27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Google Shape;276;p25" descr="image.png"/>
          <p:cNvPicPr/>
          <p:nvPr/>
        </p:nvPicPr>
        <p:blipFill>
          <a:blip r:embed="rId3"/>
          <a:stretch/>
        </p:blipFill>
        <p:spPr>
          <a:xfrm>
            <a:off x="2286000" y="3838680"/>
            <a:ext cx="266040" cy="27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Google Shape;277;p25" descr="image.png"/>
          <p:cNvPicPr/>
          <p:nvPr/>
        </p:nvPicPr>
        <p:blipFill>
          <a:blip r:embed="rId4"/>
          <a:stretch/>
        </p:blipFill>
        <p:spPr>
          <a:xfrm>
            <a:off x="2286000" y="4362480"/>
            <a:ext cx="266040" cy="27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2026-06-08T13:12:38Z</dcterms:created>
  <dc:creator/>
  <dc:description/>
  <dc:language>en-GB</dc:language>
  <cp:lastModifiedBy/>
  <dcterms:modified xsi:type="dcterms:W3CDTF">2026-06-08T14:56:58Z</dcterms:modified>
  <cp:revision>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